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SUIVI MK — Ma3ak (appm3ak)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Concept • SWOT/TOWS • Marché &amp; Cible • Positionnement • Mix Marketing</a:t>
            </a:r>
          </a:p>
          <a:p>
            <a:r>
              <a:t>Groupe: 4 membres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Nom de marque + équipe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Marque: Ma3ak (معاك) — “Avec toi”</a:t>
            </a:r>
          </a:p>
          <a:p>
            <a:pPr>
              <a:defRPr sz="2200"/>
            </a:pPr>
            <a:r>
              <a:t>Slogan proposé: L'autonomie, ensemble.</a:t>
            </a:r>
          </a:p>
          <a:p>
            <a:pPr>
              <a:defRPr sz="2200"/>
            </a:pPr>
            <a:r>
              <a:t>Projet: application mobile inclusive en Tunisie</a:t>
            </a:r>
          </a:p>
          <a:p>
            <a:pPr>
              <a:defRPr sz="2200"/>
            </a:pPr>
            <a:r>
              <a:t>Membres du groupe: [Nom 1], [Nom 2], [Nom 3], [Nom 4]</a:t>
            </a:r>
          </a:p>
          <a:p>
            <a:pPr>
              <a:defRPr sz="2200"/>
            </a:pPr>
            <a:r>
              <a:t>Logo: insérer le logo Ma3ak sur cette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La solution (Concept)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Quoi? App mobile tout-en-un: transport adapté, SOS, communauté, navigation IA</a:t>
            </a:r>
          </a:p>
          <a:p>
            <a:pPr>
              <a:defRPr sz="2200"/>
            </a:pPr>
            <a:r>
              <a:t>À qui? Personnes en situation de handicap, accompagnants, chauffeurs solidaires</a:t>
            </a:r>
          </a:p>
          <a:p>
            <a:pPr>
              <a:defRPr sz="2200"/>
            </a:pPr>
            <a:r>
              <a:t>Pourquoi? Réduire les obstacles de mobilité, sécurité et autonomie</a:t>
            </a:r>
          </a:p>
          <a:p>
            <a:pPr>
              <a:defRPr sz="2200"/>
            </a:pPr>
            <a:r>
              <a:t>Comment? Inscription par rôle, réservation trajet, demande d'aide, guidage vocal</a:t>
            </a:r>
          </a:p>
          <a:p>
            <a:pPr>
              <a:defRPr sz="2200"/>
            </a:pPr>
            <a:r>
              <a:t>Visuel attendu: captures d'écran appm3ak (home, transport, SOS, communauté)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Analyse stratégique — SWOT (interne)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/>
            </a:pPr>
            <a:r>
              <a:t>Forces (S)</a:t>
            </a:r>
          </a:p>
          <a:p>
            <a:pPr>
              <a:defRPr sz="2000"/>
            </a:pPr>
            <a:r>
              <a:t>• App all-in-one (transport + aide + SOS + IA)</a:t>
            </a:r>
          </a:p>
          <a:p>
            <a:pPr>
              <a:defRPr sz="2000"/>
            </a:pPr>
            <a:r>
              <a:t>• Accessibilité multimodale (voix, vibration, gestes)</a:t>
            </a:r>
          </a:p>
          <a:p>
            <a:pPr>
              <a:defRPr sz="2000"/>
            </a:pPr>
            <a:r>
              <a:t>• Trilingue: FR / AR / EN</a:t>
            </a:r>
          </a:p>
          <a:p>
            <a:pPr>
              <a:defRPr sz="2000"/>
            </a:pPr>
            <a:r>
              <a:t>• Technologie différenciante (AR, détection obstacles)</a:t>
            </a:r>
          </a:p>
          <a:p>
            <a:pPr>
              <a:defRPr sz="2000"/>
            </a:pPr>
            <a:r>
              <a:t>• Positionnement social fort (inclusion)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4864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/>
            </a:pPr>
            <a:r>
              <a:t>Faiblesses (W)</a:t>
            </a:r>
          </a:p>
          <a:p>
            <a:pPr>
              <a:defRPr sz="2000"/>
            </a:pPr>
            <a:r>
              <a:t>• Monétisation encore à consolider</a:t>
            </a:r>
          </a:p>
          <a:p>
            <a:pPr>
              <a:defRPr sz="2000"/>
            </a:pPr>
            <a:r>
              <a:t>• Projet en phase de développement</a:t>
            </a:r>
          </a:p>
          <a:p>
            <a:pPr>
              <a:defRPr sz="2000"/>
            </a:pPr>
            <a:r>
              <a:t>• Budget marketing limité</a:t>
            </a:r>
          </a:p>
          <a:p>
            <a:pPr>
              <a:defRPr sz="2000"/>
            </a:pPr>
            <a:r>
              <a:t>• Notoriété encore faible</a:t>
            </a:r>
          </a:p>
          <a:p>
            <a:pPr>
              <a:defRPr sz="2000"/>
            </a:pPr>
            <a:r>
              <a:t>• Complexité technique multi-modules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Analyse stratégique — SWOT (externe)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/>
            </a:pPr>
            <a:r>
              <a:t>Opportunités (O)</a:t>
            </a:r>
          </a:p>
          <a:p>
            <a:pPr>
              <a:defRPr sz="2000"/>
            </a:pPr>
            <a:r>
              <a:t>• 1,749 M de personnes handicapées en Tunisie (INS 2024)</a:t>
            </a:r>
          </a:p>
          <a:p>
            <a:pPr>
              <a:defRPr sz="2000"/>
            </a:pPr>
            <a:r>
              <a:t>• Forte pénétration mobile/internet en Tunisie</a:t>
            </a:r>
          </a:p>
          <a:p>
            <a:pPr>
              <a:defRPr sz="2000"/>
            </a:pPr>
            <a:r>
              <a:t>• Soutien croissant à l'inclusion numérique</a:t>
            </a:r>
          </a:p>
          <a:p>
            <a:pPr>
              <a:defRPr sz="2000"/>
            </a:pPr>
            <a:r>
              <a:t>• Marché local encore peu couvert en all-in-one</a:t>
            </a:r>
          </a:p>
          <a:p>
            <a:pPr>
              <a:defRPr sz="2000"/>
            </a:pPr>
            <a:r>
              <a:t>• Potentiel de partenariats ONG / institutions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4864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/>
            </a:pPr>
            <a:r>
              <a:t>Menaces (T)</a:t>
            </a:r>
          </a:p>
          <a:p>
            <a:pPr>
              <a:defRPr sz="2000"/>
            </a:pPr>
            <a:r>
              <a:t>• Concurrents ciblés transport PMR déjà présents</a:t>
            </a:r>
          </a:p>
          <a:p>
            <a:pPr>
              <a:defRPr sz="2000"/>
            </a:pPr>
            <a:r>
              <a:t>• Concurrence apps mondiales (maps/accessibilité)</a:t>
            </a:r>
          </a:p>
          <a:p>
            <a:pPr>
              <a:defRPr sz="2000"/>
            </a:pPr>
            <a:r>
              <a:t>• Fracture numérique selon régions</a:t>
            </a:r>
          </a:p>
          <a:p>
            <a:pPr>
              <a:defRPr sz="2000"/>
            </a:pPr>
            <a:r>
              <a:t>• Sensibilité des données personnelles</a:t>
            </a:r>
          </a:p>
          <a:p>
            <a:pPr>
              <a:defRPr sz="2000"/>
            </a:pPr>
            <a:r>
              <a:t>• Risque d'abandon si onboarding complexe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TOWS — Stratégies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SO: Exploiter l'IA et l'accessibilité pour capter la croissance du marché mobile</a:t>
            </a:r>
          </a:p>
          <a:p>
            <a:pPr>
              <a:defRPr sz="2200"/>
            </a:pPr>
            <a:r>
              <a:t>WO: S'appuyer sur des partenariats pour compenser budget/notoriété limités</a:t>
            </a:r>
          </a:p>
          <a:p>
            <a:pPr>
              <a:defRPr sz="2200"/>
            </a:pPr>
            <a:r>
              <a:t>ST: Se différencier par l'offre complète (pas seulement transport)</a:t>
            </a:r>
          </a:p>
          <a:p>
            <a:pPr>
              <a:defRPr sz="2200"/>
            </a:pPr>
            <a:r>
              <a:t>WT: Simplifier l'onboarding + renforcer confiance (confidentialité/sécurité)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Axes stratégiques prioritaires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1) Partenariats institutionnels et associatifs</a:t>
            </a:r>
          </a:p>
          <a:p>
            <a:pPr>
              <a:defRPr sz="2200"/>
            </a:pPr>
            <a:r>
              <a:t>2) Personnalisation et assistance par IA</a:t>
            </a:r>
          </a:p>
          <a:p>
            <a:pPr>
              <a:defRPr sz="2200"/>
            </a:pPr>
            <a:r>
              <a:t>3) Positionnement différenciant “all-in-one handicap”</a:t>
            </a:r>
          </a:p>
          <a:p>
            <a:pPr>
              <a:defRPr sz="2200"/>
            </a:pPr>
            <a:r>
              <a:t>4) Expérience utilisateur et rétention (support + onboarding)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Marché &amp; cible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Segmentation: type de handicap, âge, usage, localisation, accompagnement</a:t>
            </a:r>
          </a:p>
          <a:p>
            <a:pPr>
              <a:defRPr sz="2200"/>
            </a:pPr>
            <a:r>
              <a:t>Personas: Sarra (mobilité), Karim (aidant), Nour (visuel)</a:t>
            </a:r>
          </a:p>
          <a:p>
            <a:pPr>
              <a:defRPr sz="2200"/>
            </a:pPr>
            <a:r>
              <a:t>TAM (Tunisie): 1,749 M</a:t>
            </a:r>
          </a:p>
          <a:p>
            <a:pPr>
              <a:defRPr sz="2200"/>
            </a:pPr>
            <a:r>
              <a:t>SAM (utilisateurs mobiles visés): ~800 K</a:t>
            </a:r>
          </a:p>
          <a:p>
            <a:pPr>
              <a:defRPr sz="2200"/>
            </a:pPr>
            <a:r>
              <a:t>SOM (objectif 1ère année): ~50 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Positionnement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Promesse: la 1ère app tunisienne complète dédiée à l'autonomie des PSH</a:t>
            </a:r>
          </a:p>
          <a:p>
            <a:pPr>
              <a:defRPr sz="2200"/>
            </a:pPr>
            <a:r>
              <a:t>Avantage: combinaison unique transport + SOS + communauté + IA</a:t>
            </a:r>
          </a:p>
          <a:p>
            <a:pPr>
              <a:defRPr sz="2200"/>
            </a:pPr>
            <a:r>
              <a:t>Concurrents à comparer: Lotus Royal Move, Google Maps, Be My Eyes</a:t>
            </a:r>
          </a:p>
          <a:p>
            <a:pPr>
              <a:defRPr sz="2200"/>
            </a:pPr>
            <a:r>
              <a:t>Carte perceptuelle recommandée: Spécialisation handicap (X) vs Richesse fonctionnelle (Y)</a:t>
            </a:r>
          </a:p>
          <a:p>
            <a:pPr>
              <a:defRPr sz="2200"/>
            </a:pPr>
            <a:r>
              <a:t>Position souhaitée: quadrant “fortement spécialisé + riche en fonctionnalités”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5-1) Mix MK — Politique de prix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Stratégie: Freemium + commission + B2B</a:t>
            </a:r>
          </a:p>
          <a:p>
            <a:pPr>
              <a:defRPr sz="2200"/>
            </a:pPr>
            <a:r>
              <a:t>Bénéficiaires: accès gratuit aux fonctions essentielles</a:t>
            </a:r>
          </a:p>
          <a:p>
            <a:pPr>
              <a:defRPr sz="2200"/>
            </a:pPr>
            <a:r>
              <a:t>Transport: commission 7–10% par course</a:t>
            </a:r>
          </a:p>
          <a:p>
            <a:pPr>
              <a:defRPr sz="2200"/>
            </a:pPr>
            <a:r>
              <a:t>Accompagnant Pro: 9 TND / mois (options avancées)</a:t>
            </a:r>
          </a:p>
          <a:p>
            <a:pPr>
              <a:defRPr sz="2200"/>
            </a:pPr>
            <a:r>
              <a:t>Institutions/associations: licence 49 TND / mois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5-2) Mix MK — Politique de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PUSH: campagnes Meta, démonstrations terrain, partenariats influenceurs</a:t>
            </a:r>
          </a:p>
          <a:p>
            <a:pPr>
              <a:defRPr sz="2200"/>
            </a:pPr>
            <a:r>
              <a:t>PULL: SEO/ASO, contenu témoignages, bouche-à-oreille communautaire</a:t>
            </a:r>
          </a:p>
          <a:p>
            <a:pPr>
              <a:defRPr sz="2200"/>
            </a:pPr>
            <a:r>
              <a:t>Branding: logo Ma3ak + slogan “L'autonomie, ensemble.”</a:t>
            </a:r>
          </a:p>
          <a:p>
            <a:pPr>
              <a:defRPr sz="2200"/>
            </a:pPr>
            <a:r>
              <a:t>Message clé: accessibilité réelle, sécurité, autonomie, solidarité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5-3) Mix MK — Distribution + répartition équipe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Distribution intensive: Google Play + App Store</a:t>
            </a:r>
          </a:p>
          <a:p>
            <a:pPr>
              <a:defRPr sz="2200"/>
            </a:pPr>
            <a:r>
              <a:t>Distribution sélective: relais associations et centres spécialisés</a:t>
            </a:r>
          </a:p>
          <a:p>
            <a:pPr>
              <a:defRPr sz="2200"/>
            </a:pPr>
            <a:r>
              <a:t>Distribution B2B: partenariats institutions (offres dédiées)</a:t>
            </a:r>
          </a:p>
          <a:p>
            <a:pPr>
              <a:defRPr sz="2200"/>
            </a:pPr>
            <a:r>
              <a:t>Répartition: P1 slides 1–3 | P2 slides 4–7 | P3 slide 8 | P4 slides 9–12</a:t>
            </a:r>
          </a:p>
          <a:p>
            <a:pPr>
              <a:defRPr sz="2200"/>
            </a:pPr>
            <a:r>
              <a:t>Préparation orale: 10–12 min + 2 min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